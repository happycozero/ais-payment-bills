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822" autoAdjust="0"/>
  </p:normalViewPr>
  <p:slideViewPr>
    <p:cSldViewPr snapToGrid="0">
      <p:cViewPr varScale="1">
        <p:scale>
          <a:sx n="79" d="100"/>
          <a:sy n="79" d="100"/>
        </p:scale>
        <p:origin x="108" y="7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6A9E4-1529-4367-B8BE-34B6E2449903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171E79-6D67-4CBE-AD58-4BF52401270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212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171E79-6D67-4CBE-AD58-4BF52401270A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962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4334933" y="1169931"/>
            <a:ext cx="4814835" cy="4993802"/>
            <a:chOff x="4334933" y="1169931"/>
            <a:chExt cx="4814835" cy="4993802"/>
          </a:xfrm>
        </p:grpSpPr>
        <p:cxnSp>
          <p:nvCxnSpPr>
            <p:cNvPr id="17" name="Straight Connector 16"/>
            <p:cNvCxnSpPr/>
            <p:nvPr/>
          </p:nvCxnSpPr>
          <p:spPr>
            <a:xfrm flipH="1">
              <a:off x="6009259" y="1169931"/>
              <a:ext cx="3134741" cy="31347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4334933" y="1348898"/>
              <a:ext cx="4814835" cy="48148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5225595" y="1469269"/>
              <a:ext cx="3912054" cy="3912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H="1">
              <a:off x="5304588" y="1307856"/>
              <a:ext cx="3839412" cy="3839412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5707078" y="1770196"/>
              <a:ext cx="3430571" cy="343057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533400"/>
            <a:ext cx="6154713" cy="3124201"/>
          </a:xfrm>
        </p:spPr>
        <p:txBody>
          <a:bodyPr anchor="b">
            <a:normAutofit/>
          </a:bodyPr>
          <a:lstStyle>
            <a:lvl1pPr algn="l">
              <a:defRPr sz="44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3843868"/>
            <a:ext cx="4954250" cy="191346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358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533400"/>
            <a:ext cx="6554867" cy="376767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2284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1981199"/>
            <a:ext cx="6402468" cy="2319867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487333"/>
            <a:ext cx="6402467" cy="1532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691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13"/>
          </p:nvPr>
        </p:nvSpPr>
        <p:spPr>
          <a:xfrm>
            <a:off x="533400" y="533400"/>
            <a:ext cx="3949967" cy="3767667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2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533400"/>
            <a:ext cx="3948238" cy="37592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9265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1" y="533400"/>
            <a:ext cx="3716866" cy="609600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399" y="1143000"/>
            <a:ext cx="3945467" cy="3158067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5016" y="566738"/>
            <a:ext cx="376405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1143000"/>
            <a:ext cx="3956705" cy="3149600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32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113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595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8667" y="533400"/>
            <a:ext cx="3200400" cy="1524000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399" y="533400"/>
            <a:ext cx="4438755" cy="54864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18667" y="2209802"/>
            <a:ext cx="32004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273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0" y="1447800"/>
            <a:ext cx="3563258" cy="11430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762000" y="914400"/>
            <a:ext cx="3280974" cy="48006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6027" y="2743200"/>
            <a:ext cx="3564223" cy="2082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3400" y="6172200"/>
            <a:ext cx="581172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182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33400" y="533400"/>
            <a:ext cx="8077200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762002" y="3843867"/>
            <a:ext cx="7281332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5283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8077200" cy="2895600"/>
          </a:xfrm>
        </p:spPr>
        <p:txBody>
          <a:bodyPr anchor="ctr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114800"/>
            <a:ext cx="6383552" cy="19050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2324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3" y="533400"/>
            <a:ext cx="6859787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66800" y="3429000"/>
            <a:ext cx="6402467" cy="4826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301070"/>
            <a:ext cx="6382361" cy="171873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911911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3429000"/>
            <a:ext cx="6382361" cy="1697400"/>
          </a:xfrm>
        </p:spPr>
        <p:txBody>
          <a:bodyPr anchor="b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132980"/>
            <a:ext cx="6383552" cy="88681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5184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4" y="533400"/>
            <a:ext cx="6859786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886200"/>
            <a:ext cx="638236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953000"/>
            <a:ext cx="63823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26674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7525658" cy="28956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928534"/>
            <a:ext cx="6382361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766735"/>
            <a:ext cx="6382360" cy="125306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132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1"/>
            <a:ext cx="6554867" cy="376767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98109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6406" y="533400"/>
            <a:ext cx="2044194" cy="4419600"/>
          </a:xfrm>
        </p:spPr>
        <p:txBody>
          <a:bodyPr vert="eaVert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0"/>
            <a:ext cx="5850012" cy="54864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346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670675" y="3894667"/>
            <a:ext cx="2470456" cy="2658533"/>
            <a:chOff x="6687077" y="3259666"/>
            <a:chExt cx="2981857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8756120" y="3259666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6687077" y="3486677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7772400" y="3581400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7923214" y="3433394"/>
              <a:ext cx="1739738" cy="17397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8398935" y="3985317"/>
              <a:ext cx="1264017" cy="126401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33401"/>
            <a:ext cx="6554867" cy="37676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0245" y="6172203"/>
            <a:ext cx="120046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865F621-9F77-409B-87C2-BEAA1C35D7BC}" type="datetimeFigureOut">
              <a:rPr lang="ru-RU" smtClean="0"/>
              <a:pPr/>
              <a:t>10.05.2022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6172200"/>
            <a:ext cx="5811724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4426" y="5578478"/>
            <a:ext cx="856907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8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891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763" r:id="rId14"/>
    <p:sldLayoutId id="2147483764" r:id="rId15"/>
    <p:sldLayoutId id="2147483765" r:id="rId16"/>
    <p:sldLayoutId id="214748376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6390084" y="4995522"/>
            <a:ext cx="2753916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Разработал студент </a:t>
            </a:r>
          </a:p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группы ПС-19Б</a:t>
            </a:r>
          </a:p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Дикарев Роман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611878" y="6488668"/>
            <a:ext cx="205144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г. Заволжье, 2022</a:t>
            </a:r>
          </a:p>
        </p:txBody>
      </p:sp>
      <p:sp>
        <p:nvSpPr>
          <p:cNvPr id="6" name="Прямоугольник 1"/>
          <p:cNvSpPr>
            <a:spLocks noChangeArrowheads="1"/>
          </p:cNvSpPr>
          <p:nvPr/>
        </p:nvSpPr>
        <p:spPr bwMode="auto">
          <a:xfrm>
            <a:off x="738527" y="151855"/>
            <a:ext cx="5746705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Министерство образования Нижегородской области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Государственное бюджетное профессиональное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Образовательное учреждение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«Заволжский автомоторный техникум»</a:t>
            </a:r>
          </a:p>
        </p:txBody>
      </p:sp>
      <p:sp>
        <p:nvSpPr>
          <p:cNvPr id="7" name="TextBox 2"/>
          <p:cNvSpPr txBox="1">
            <a:spLocks noChangeArrowheads="1"/>
          </p:cNvSpPr>
          <p:nvPr/>
        </p:nvSpPr>
        <p:spPr bwMode="auto">
          <a:xfrm>
            <a:off x="182878" y="1950441"/>
            <a:ext cx="6858000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Курсовой проект</a:t>
            </a:r>
          </a:p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Тема: Разработка автоматизированной информационной системы по ведению базы данных расчета и учета оплаты ЖКХ</a:t>
            </a:r>
          </a:p>
        </p:txBody>
      </p:sp>
    </p:spTree>
    <p:extLst>
      <p:ext uri="{BB962C8B-B14F-4D97-AF65-F5344CB8AC3E}">
        <p14:creationId xmlns:p14="http://schemas.microsoft.com/office/powerpoint/2010/main" val="2042443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483678" y="28677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Введение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38782" y="660850"/>
            <a:ext cx="7241881" cy="5805264"/>
          </a:xfrm>
        </p:spPr>
        <p:txBody>
          <a:bodyPr>
            <a:normAutofit/>
          </a:bodyPr>
          <a:lstStyle/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Автоматизированные информационные системы нашли своё место и в ведении расчета и учета оплаты ЖКХ. Они позволяют автоматизировать просмотр оплаченных, неоплаченных счетов и формирование квитанций по оплате услуг ЖКХ.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АИС способны повысить производительность работы персонала, улучшить качество обслуживания клиентов, снизить трудоемкость и напряженность труда персонала, снизить количество ошибок в действиях персонала.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Целью является разработка автоматизированной информационной системы для учета оплаченных и неоплаченных счетов ЖКХ, и дальнейшего вывода отчета в 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MS Word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88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Назначение разработки</a:t>
            </a:r>
          </a:p>
        </p:txBody>
      </p:sp>
      <p:sp>
        <p:nvSpPr>
          <p:cNvPr id="6" name="Содержимое 2"/>
          <p:cNvSpPr>
            <a:spLocks noGrp="1"/>
          </p:cNvSpPr>
          <p:nvPr>
            <p:ph idx="1"/>
          </p:nvPr>
        </p:nvSpPr>
        <p:spPr>
          <a:xfrm>
            <a:off x="371028" y="260648"/>
            <a:ext cx="7658156" cy="5805264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по ведению базы данных расчета и уплаты ЖКХ предназначена для автоматизации формирования квитанций и учета оплаты ЖКХ.</a:t>
            </a:r>
          </a:p>
        </p:txBody>
      </p:sp>
    </p:spTree>
    <p:extLst>
      <p:ext uri="{BB962C8B-B14F-4D97-AF65-F5344CB8AC3E}">
        <p14:creationId xmlns:p14="http://schemas.microsoft.com/office/powerpoint/2010/main" val="1110813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функциональный характеристикам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819086" cy="5805264"/>
          </a:xfrm>
        </p:spPr>
        <p:txBody>
          <a:bodyPr>
            <a:noAutofit/>
          </a:bodyPr>
          <a:lstStyle/>
          <a:p>
            <a:pPr indent="45000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расчета и учета оплаты ЖКХ должна обеспечивать выполнение следующих функций: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авторизация (главный администратор, диспетчер);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ведение и редактирование данных (добавление, удаление, редактирование);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текущего состояния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изменение статуса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квитанции за месяц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расчет стоимости оплаты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составление отчёта учета оплаченных квитанций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поиск записей с помощью фильтра (по лицевому счету).</a:t>
            </a:r>
          </a:p>
        </p:txBody>
      </p:sp>
    </p:spTree>
    <p:extLst>
      <p:ext uri="{BB962C8B-B14F-4D97-AF65-F5344CB8AC3E}">
        <p14:creationId xmlns:p14="http://schemas.microsoft.com/office/powerpoint/2010/main" val="2711522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Входные и выходные данные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241881" cy="5805264"/>
          </a:xfrm>
        </p:spPr>
        <p:txBody>
          <a:bodyPr>
            <a:no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ввод номера лицевого счета.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отчета по оплате счетов ЖКХ, вывод квитанции на печать в файле </a:t>
            </a:r>
            <a:r>
              <a:rPr lang="en-US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Word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613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Системные требования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Минимальные системные требования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тактовая частота процессора - 2000 Гц;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оперативной памяти 2 Гб;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свободного дискового пространства 50 МБ;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разрешение монитора 1366х768;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наличие устройства чтения компакт-дисков.</a:t>
            </a:r>
          </a:p>
        </p:txBody>
      </p:sp>
    </p:spTree>
    <p:extLst>
      <p:ext uri="{BB962C8B-B14F-4D97-AF65-F5344CB8AC3E}">
        <p14:creationId xmlns:p14="http://schemas.microsoft.com/office/powerpoint/2010/main" val="246529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программной документации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Основными документами регламентирующие разработку системы являются (в ходе разработки программы должны быть подготовлены):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текст программы;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пояснительная записка;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руководство пользователя.</a:t>
            </a:r>
          </a:p>
        </p:txBody>
      </p:sp>
    </p:spTree>
    <p:extLst>
      <p:ext uri="{BB962C8B-B14F-4D97-AF65-F5344CB8AC3E}">
        <p14:creationId xmlns:p14="http://schemas.microsoft.com/office/powerpoint/2010/main" val="994663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300739" y="479150"/>
            <a:ext cx="8715375" cy="618130"/>
          </a:xfrm>
        </p:spPr>
        <p:txBody>
          <a:bodyPr>
            <a:normAutofit/>
          </a:bodyPr>
          <a:lstStyle/>
          <a:p>
            <a:pPr algn="ctr" fontAlgn="auto">
              <a:spcAft>
                <a:spcPts val="0"/>
              </a:spcAft>
              <a:defRPr/>
            </a:pPr>
            <a:r>
              <a:rPr lang="ru-RU" dirty="0">
                <a:latin typeface="Times New Roman" pitchFamily="18" charset="0"/>
                <a:cs typeface="Times New Roman" pitchFamily="18" charset="0"/>
              </a:rPr>
              <a:t>Проектирование</a:t>
            </a:r>
          </a:p>
        </p:txBody>
      </p:sp>
      <p:sp>
        <p:nvSpPr>
          <p:cNvPr id="8" name="Овал 7"/>
          <p:cNvSpPr/>
          <p:nvPr/>
        </p:nvSpPr>
        <p:spPr>
          <a:xfrm>
            <a:off x="761383" y="3705727"/>
            <a:ext cx="3096344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СТРУКТУРНОЕ </a:t>
            </a:r>
          </a:p>
        </p:txBody>
      </p:sp>
      <p:sp>
        <p:nvSpPr>
          <p:cNvPr id="9" name="Овал 8"/>
          <p:cNvSpPr/>
          <p:nvPr/>
        </p:nvSpPr>
        <p:spPr>
          <a:xfrm>
            <a:off x="4380412" y="3705727"/>
            <a:ext cx="4053506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ОБЪЕКТНО-ОРИЕНТИРОВАННОЕ </a:t>
            </a:r>
          </a:p>
        </p:txBody>
      </p:sp>
      <p:cxnSp>
        <p:nvCxnSpPr>
          <p:cNvPr id="16" name="Прямая со стрелкой 15"/>
          <p:cNvCxnSpPr>
            <a:stCxn id="7" idx="2"/>
            <a:endCxn id="8" idx="0"/>
          </p:cNvCxnSpPr>
          <p:nvPr/>
        </p:nvCxnSpPr>
        <p:spPr>
          <a:xfrm flipH="1">
            <a:off x="2309555" y="1097280"/>
            <a:ext cx="2348872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>
            <a:stCxn id="7" idx="2"/>
            <a:endCxn id="9" idx="0"/>
          </p:cNvCxnSpPr>
          <p:nvPr/>
        </p:nvCxnSpPr>
        <p:spPr>
          <a:xfrm>
            <a:off x="4658427" y="1097280"/>
            <a:ext cx="1748738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107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283732-1386-409D-A9CD-18621CB2622C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0199" y="1479045"/>
            <a:ext cx="4008755" cy="5252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28704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801798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деятельности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5D2518-1B8C-480C-AE2A-93BF74853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143" y="1465546"/>
            <a:ext cx="4307713" cy="487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201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60150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400" b="1" cap="none" dirty="0">
                <a:latin typeface="Times New Roman" pitchFamily="18" charset="0"/>
                <a:cs typeface="Times New Roman" pitchFamily="18" charset="0"/>
              </a:rPr>
              <a:t>ER-</a:t>
            </a:r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 flipV="1">
            <a:off x="2251078" y="221391"/>
            <a:ext cx="712491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66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315080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Прототип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904690"/>
            <a:ext cx="7514286" cy="5078100"/>
          </a:xfrm>
        </p:spPr>
        <p:txBody>
          <a:bodyPr>
            <a:noAutofit/>
          </a:bodyPr>
          <a:lstStyle/>
          <a:p>
            <a:pPr marL="0" indent="457200" algn="just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При проектировании программного продукта был выбран горизонтальный прототип, так как его используют, когда необходимо прояснить нечёткие требования, имеющие многоальтернативную реализацию. </a:t>
            </a:r>
          </a:p>
          <a:p>
            <a:pPr marL="0" indent="457200" algn="just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Горизонтальный прототип помогает визуально смоделировать макет разрабатываемого программного продукта, не беря во внимание его будущие функциональные характеристики.</a:t>
            </a:r>
          </a:p>
        </p:txBody>
      </p:sp>
    </p:spTree>
    <p:extLst>
      <p:ext uri="{BB962C8B-B14F-4D97-AF65-F5344CB8AC3E}">
        <p14:creationId xmlns:p14="http://schemas.microsoft.com/office/powerpoint/2010/main" val="1268536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Выбор средств разработки</a:t>
            </a:r>
          </a:p>
        </p:txBody>
      </p:sp>
      <p:pic>
        <p:nvPicPr>
          <p:cNvPr id="5" name="Объект 2"/>
          <p:cNvPicPr>
            <a:picLocks noGrp="1" noChangeAspect="1"/>
          </p:cNvPicPr>
          <p:nvPr>
            <p:ph idx="1"/>
          </p:nvPr>
        </p:nvPicPr>
        <p:blipFill rotWithShape="1">
          <a:blip r:embed="rId2" cstate="print"/>
          <a:srcRect l="-490" t="-1554" r="490" b="1554"/>
          <a:stretch/>
        </p:blipFill>
        <p:spPr>
          <a:xfrm>
            <a:off x="1817597" y="1321194"/>
            <a:ext cx="5328592" cy="392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06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30D57AA-61DD-45D9-BDFE-45D3EFDA1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2009775"/>
            <a:ext cx="3752850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070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CF17BC1-FC04-4ED1-9B93-47F0128AE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75" y="1195387"/>
            <a:ext cx="6496050" cy="446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707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846713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36933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1329493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73492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</p:spTree>
    <p:extLst>
      <p:ext uri="{BB962C8B-B14F-4D97-AF65-F5344CB8AC3E}">
        <p14:creationId xmlns:p14="http://schemas.microsoft.com/office/powerpoint/2010/main" val="3607326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260A34F-5641-4148-B4A0-2B81C40E1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234" y="1357831"/>
            <a:ext cx="6149531" cy="414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15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43E195-BECA-458B-9152-4F52E766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37" y="1543050"/>
            <a:ext cx="5876925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646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Заключение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71177" y="1100957"/>
            <a:ext cx="7427200" cy="47558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выполнение курсового проекта была разработана автоматизированная информационная система по ведению базы данных расчета и учета оплаты ЖКХ. Автоматизированная информационная система предназначена для оптимизации работы типографии, за счет облегчения оформления заказов, ведения учета материалов и заказов, а также оформления отчета продаж и отчета расхода материалов за выбранный промежуток времени.</a:t>
            </a: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Автоматизированная информационная система выполняет: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статуса счета плательщика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информации базы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добавление, удаление и редактирование информации в базе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печать платежного договора оплаты услуг ЖКХ;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возможность ввода нового тарифа ЖКХ.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стоимости оплаты ЖКХ за месяц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БД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дальнейшем возможна доработка программы, добавление новых функций по ведению базы данных.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4521495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Сектор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3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2700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138</TotalTime>
  <Words>522</Words>
  <Application>Microsoft Office PowerPoint</Application>
  <PresentationFormat>Экран (4:3)</PresentationFormat>
  <Paragraphs>72</Paragraphs>
  <Slides>23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Calibri</vt:lpstr>
      <vt:lpstr>Century Gothic</vt:lpstr>
      <vt:lpstr>Symbol</vt:lpstr>
      <vt:lpstr>Times New Roman</vt:lpstr>
      <vt:lpstr>Wingdings 3</vt:lpstr>
      <vt:lpstr>Сектор</vt:lpstr>
      <vt:lpstr>Презентация PowerPoint</vt:lpstr>
      <vt:lpstr>Введение</vt:lpstr>
      <vt:lpstr>Назначение разработки</vt:lpstr>
      <vt:lpstr>Требования к функциональный характеристикам</vt:lpstr>
      <vt:lpstr>Входные и выходные данные</vt:lpstr>
      <vt:lpstr>Системные требования</vt:lpstr>
      <vt:lpstr>Требования к программной документации</vt:lpstr>
      <vt:lpstr>Проектирование</vt:lpstr>
      <vt:lpstr>Диаграмма вариантов использования</vt:lpstr>
      <vt:lpstr>Диаграмма деятельности</vt:lpstr>
      <vt:lpstr>ER-диаграмма</vt:lpstr>
      <vt:lpstr>Прототип</vt:lpstr>
      <vt:lpstr>Выбор средств разработки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Роман Отмятый</cp:lastModifiedBy>
  <cp:revision>53</cp:revision>
  <dcterms:created xsi:type="dcterms:W3CDTF">2022-04-17T16:10:03Z</dcterms:created>
  <dcterms:modified xsi:type="dcterms:W3CDTF">2022-05-10T20:56:27Z</dcterms:modified>
</cp:coreProperties>
</file>