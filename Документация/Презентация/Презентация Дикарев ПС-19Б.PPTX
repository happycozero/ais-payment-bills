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3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7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71" autoAdjust="0"/>
    <p:restoredTop sz="94822" autoAdjust="0"/>
  </p:normalViewPr>
  <p:slideViewPr>
    <p:cSldViewPr snapToGrid="0">
      <p:cViewPr varScale="1">
        <p:scale>
          <a:sx n="42" d="100"/>
          <a:sy n="42" d="100"/>
        </p:scale>
        <p:origin x="30" y="15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26A9E4-1529-4367-B8BE-34B6E2449903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171E79-6D67-4CBE-AD58-4BF52401270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212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171E79-6D67-4CBE-AD58-4BF52401270A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9621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4334933" y="1169931"/>
            <a:ext cx="4814835" cy="4993802"/>
            <a:chOff x="4334933" y="1169931"/>
            <a:chExt cx="4814835" cy="4993802"/>
          </a:xfrm>
        </p:grpSpPr>
        <p:cxnSp>
          <p:nvCxnSpPr>
            <p:cNvPr id="17" name="Straight Connector 16"/>
            <p:cNvCxnSpPr/>
            <p:nvPr/>
          </p:nvCxnSpPr>
          <p:spPr>
            <a:xfrm flipH="1">
              <a:off x="6009259" y="1169931"/>
              <a:ext cx="3134741" cy="31347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H="1">
              <a:off x="4334933" y="1348898"/>
              <a:ext cx="4814835" cy="48148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5225595" y="1469269"/>
              <a:ext cx="3912054" cy="3912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H="1">
              <a:off x="5304588" y="1307856"/>
              <a:ext cx="3839412" cy="3839412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5707078" y="1770196"/>
              <a:ext cx="3430571" cy="343057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533400"/>
            <a:ext cx="6154713" cy="3124201"/>
          </a:xfrm>
        </p:spPr>
        <p:txBody>
          <a:bodyPr anchor="b">
            <a:normAutofit/>
          </a:bodyPr>
          <a:lstStyle>
            <a:lvl1pPr algn="l">
              <a:defRPr sz="44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3400" y="3843868"/>
            <a:ext cx="4954250" cy="1913466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9770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533400"/>
            <a:ext cx="6554867" cy="3767670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6716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1981199"/>
            <a:ext cx="6402468" cy="2319867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487333"/>
            <a:ext cx="6402467" cy="1532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0623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13"/>
          </p:nvPr>
        </p:nvSpPr>
        <p:spPr>
          <a:xfrm>
            <a:off x="533400" y="533400"/>
            <a:ext cx="3949967" cy="3767667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2" name="Content Placeholder 5"/>
          <p:cNvSpPr>
            <a:spLocks noGrp="1"/>
          </p:cNvSpPr>
          <p:nvPr>
            <p:ph sz="quarter" idx="4"/>
          </p:nvPr>
        </p:nvSpPr>
        <p:spPr>
          <a:xfrm>
            <a:off x="4662362" y="533400"/>
            <a:ext cx="3948238" cy="37592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492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1" y="533400"/>
            <a:ext cx="3716866" cy="609600"/>
          </a:xfrm>
        </p:spPr>
        <p:txBody>
          <a:bodyPr anchor="b">
            <a:noAutofit/>
          </a:bodyPr>
          <a:lstStyle>
            <a:lvl1pPr marL="0" indent="0">
              <a:buNone/>
              <a:defRPr sz="2400" b="0" cap="all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399" y="1143000"/>
            <a:ext cx="3945467" cy="3158067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5016" y="566738"/>
            <a:ext cx="376405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 cap="all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2362" y="1143000"/>
            <a:ext cx="3956705" cy="3149600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00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986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7022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8667" y="533400"/>
            <a:ext cx="3200400" cy="1524000"/>
          </a:xfrm>
        </p:spPr>
        <p:txBody>
          <a:bodyPr anchor="b">
            <a:normAutofit/>
          </a:bodyPr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399" y="533400"/>
            <a:ext cx="4438755" cy="54864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18667" y="2209802"/>
            <a:ext cx="32004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8343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0" y="1447800"/>
            <a:ext cx="3563258" cy="11430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762000" y="914400"/>
            <a:ext cx="3280974" cy="48006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6027" y="2743200"/>
            <a:ext cx="3564223" cy="2082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33400" y="6172200"/>
            <a:ext cx="581172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0698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33400" y="533400"/>
            <a:ext cx="8077200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762002" y="3843867"/>
            <a:ext cx="7281332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9194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8077200" cy="2895600"/>
          </a:xfrm>
        </p:spPr>
        <p:txBody>
          <a:bodyPr anchor="ctr">
            <a:normAutofit/>
          </a:bodyPr>
          <a:lstStyle>
            <a:lvl1pPr algn="l">
              <a:defRPr sz="28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114800"/>
            <a:ext cx="6383552" cy="19050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8714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283" y="533400"/>
            <a:ext cx="6859787" cy="2895600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66800" y="3429000"/>
            <a:ext cx="6402467" cy="4826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301070"/>
            <a:ext cx="6382361" cy="171873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28600" y="71062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200" y="276860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550332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3429000"/>
            <a:ext cx="6382361" cy="1697400"/>
          </a:xfrm>
        </p:spPr>
        <p:txBody>
          <a:bodyPr anchor="b">
            <a:normAutofit/>
          </a:bodyPr>
          <a:lstStyle>
            <a:lvl1pPr algn="l">
              <a:defRPr sz="28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5132980"/>
            <a:ext cx="6383552" cy="886819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29758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284" y="533400"/>
            <a:ext cx="6859786" cy="2895600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33400" y="3886200"/>
            <a:ext cx="638236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953000"/>
            <a:ext cx="63823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28600" y="71062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200" y="276860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56352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7525658" cy="28956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2800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33400" y="3928534"/>
            <a:ext cx="6382361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766735"/>
            <a:ext cx="6382360" cy="1253065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02746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1"/>
            <a:ext cx="6554867" cy="376767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905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66406" y="533400"/>
            <a:ext cx="2044194" cy="4419600"/>
          </a:xfrm>
        </p:spPr>
        <p:txBody>
          <a:bodyPr vert="eaVert">
            <a:normAutofit/>
          </a:bodyPr>
          <a:lstStyle>
            <a:lvl1pPr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0"/>
            <a:ext cx="5850012" cy="54864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384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3000">
              <a:srgbClr val="F2A02C"/>
            </a:gs>
            <a:gs pos="8000">
              <a:srgbClr val="ED9125"/>
            </a:gs>
            <a:gs pos="0">
              <a:srgbClr val="F6AB31"/>
            </a:gs>
            <a:gs pos="9000">
              <a:schemeClr val="bg2">
                <a:tint val="97000"/>
                <a:hueMod val="162000"/>
                <a:satMod val="200000"/>
                <a:lumMod val="124000"/>
              </a:schemeClr>
            </a:gs>
            <a:gs pos="63000">
              <a:schemeClr val="bg2">
                <a:shade val="96000"/>
                <a:hueMod val="88000"/>
                <a:satMod val="220000"/>
                <a:lumMod val="82000"/>
              </a:schemeClr>
            </a:gs>
          </a:gsLst>
          <a:lin ang="612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670675" y="3894667"/>
            <a:ext cx="2470456" cy="2658533"/>
            <a:chOff x="6687077" y="3259666"/>
            <a:chExt cx="2981857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8756120" y="3259666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6687077" y="3486677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7772400" y="3581400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7923214" y="3433394"/>
              <a:ext cx="1739738" cy="173974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8398935" y="3985317"/>
              <a:ext cx="1264017" cy="126401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533401"/>
            <a:ext cx="6554867" cy="37676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0245" y="6172203"/>
            <a:ext cx="1200463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3400" y="6172200"/>
            <a:ext cx="5811724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4426" y="5578478"/>
            <a:ext cx="856907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8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2048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4" r:id="rId1"/>
    <p:sldLayoutId id="2147483895" r:id="rId2"/>
    <p:sldLayoutId id="2147483896" r:id="rId3"/>
    <p:sldLayoutId id="2147483897" r:id="rId4"/>
    <p:sldLayoutId id="2147483898" r:id="rId5"/>
    <p:sldLayoutId id="2147483899" r:id="rId6"/>
    <p:sldLayoutId id="2147483900" r:id="rId7"/>
    <p:sldLayoutId id="2147483901" r:id="rId8"/>
    <p:sldLayoutId id="2147483902" r:id="rId9"/>
    <p:sldLayoutId id="2147483903" r:id="rId10"/>
    <p:sldLayoutId id="2147483904" r:id="rId11"/>
    <p:sldLayoutId id="2147483905" r:id="rId12"/>
    <p:sldLayoutId id="2147483906" r:id="rId13"/>
    <p:sldLayoutId id="2147483907" r:id="rId14"/>
    <p:sldLayoutId id="2147483908" r:id="rId15"/>
    <p:sldLayoutId id="2147483909" r:id="rId16"/>
    <p:sldLayoutId id="214748391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6390084" y="4995522"/>
            <a:ext cx="2753916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r"/>
            <a:r>
              <a:rPr lang="ru-RU" dirty="0">
                <a:latin typeface="Times New Roman" pitchFamily="18" charset="0"/>
                <a:cs typeface="Times New Roman" pitchFamily="18" charset="0"/>
              </a:rPr>
              <a:t>Разработал студент </a:t>
            </a:r>
          </a:p>
          <a:p>
            <a:pPr algn="r"/>
            <a:r>
              <a:rPr lang="ru-RU" dirty="0">
                <a:latin typeface="Times New Roman" pitchFamily="18" charset="0"/>
                <a:cs typeface="Times New Roman" pitchFamily="18" charset="0"/>
              </a:rPr>
              <a:t>группы ПС-19Б</a:t>
            </a:r>
          </a:p>
          <a:p>
            <a:pPr algn="r"/>
            <a:r>
              <a:rPr lang="ru-RU" dirty="0">
                <a:latin typeface="Times New Roman" pitchFamily="18" charset="0"/>
                <a:cs typeface="Times New Roman" pitchFamily="18" charset="0"/>
              </a:rPr>
              <a:t>Дикарев Роман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611878" y="6488668"/>
            <a:ext cx="205144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г. Заволжье, 2022</a:t>
            </a:r>
          </a:p>
        </p:txBody>
      </p:sp>
      <p:sp>
        <p:nvSpPr>
          <p:cNvPr id="6" name="Прямоугольник 1"/>
          <p:cNvSpPr>
            <a:spLocks noChangeArrowheads="1"/>
          </p:cNvSpPr>
          <p:nvPr/>
        </p:nvSpPr>
        <p:spPr bwMode="auto">
          <a:xfrm>
            <a:off x="738527" y="151855"/>
            <a:ext cx="5746705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Министерство образования Нижегородской области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Государственное бюджетное профессиональное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Образовательное учреждение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«Заволжский автомоторный техникум»</a:t>
            </a:r>
          </a:p>
        </p:txBody>
      </p:sp>
      <p:sp>
        <p:nvSpPr>
          <p:cNvPr id="7" name="TextBox 2"/>
          <p:cNvSpPr txBox="1">
            <a:spLocks noChangeArrowheads="1"/>
          </p:cNvSpPr>
          <p:nvPr/>
        </p:nvSpPr>
        <p:spPr bwMode="auto">
          <a:xfrm>
            <a:off x="182878" y="1950441"/>
            <a:ext cx="6858000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ru-RU" sz="2700" dirty="0">
                <a:latin typeface="Times New Roman" pitchFamily="18" charset="0"/>
                <a:cs typeface="Times New Roman" pitchFamily="18" charset="0"/>
              </a:rPr>
              <a:t>Курсовой проект</a:t>
            </a:r>
          </a:p>
          <a:p>
            <a:pPr algn="ctr"/>
            <a:r>
              <a:rPr lang="ru-RU" sz="2700" dirty="0">
                <a:latin typeface="Times New Roman" pitchFamily="18" charset="0"/>
                <a:cs typeface="Times New Roman" pitchFamily="18" charset="0"/>
              </a:rPr>
              <a:t>Тема: Разработка автоматизированной информационной системы по ведению базы данных расчета и учета оплаты ЖКХ</a:t>
            </a:r>
          </a:p>
        </p:txBody>
      </p:sp>
    </p:spTree>
    <p:extLst>
      <p:ext uri="{BB962C8B-B14F-4D97-AF65-F5344CB8AC3E}">
        <p14:creationId xmlns:p14="http://schemas.microsoft.com/office/powerpoint/2010/main" val="2042443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483678" y="28677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Введение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38782" y="660850"/>
            <a:ext cx="7241881" cy="5805264"/>
          </a:xfrm>
        </p:spPr>
        <p:txBody>
          <a:bodyPr>
            <a:normAutofit/>
          </a:bodyPr>
          <a:lstStyle/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Автоматизированные информационные системы нашли своё место и в ведении расчета и учета оплаты ЖКХ. Они позволяют автоматизировать просмотр оплаченных, неоплаченных счетов и формирование квитанций по оплате услуг ЖКХ.</a:t>
            </a:r>
          </a:p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АИС способны повысить производительность работы персонала, улучшить качество обслуживания клиентов, снизить трудоемкость и напряженность труда персонала, снизить количество ошибок в действиях персонала.</a:t>
            </a:r>
          </a:p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Целью является разработка автоматизированной информационной системы для учета оплаченных и неоплаченных счетов ЖКХ, и дальнейшего вывода отчета в </a:t>
            </a:r>
            <a:r>
              <a:rPr lang="en-US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MS Word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11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788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-24562" y="260648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Назначение разработки</a:t>
            </a:r>
          </a:p>
        </p:txBody>
      </p:sp>
      <p:sp>
        <p:nvSpPr>
          <p:cNvPr id="6" name="Содержимое 2"/>
          <p:cNvSpPr>
            <a:spLocks noGrp="1"/>
          </p:cNvSpPr>
          <p:nvPr>
            <p:ph idx="1"/>
          </p:nvPr>
        </p:nvSpPr>
        <p:spPr>
          <a:xfrm>
            <a:off x="371028" y="260648"/>
            <a:ext cx="7658156" cy="5805264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Автоматизированная информационная система по ведению базы данных расчета и уплаты ЖКХ предназначена для автоматизации формирования квитанций и учета оплаты ЖКХ.</a:t>
            </a:r>
          </a:p>
        </p:txBody>
      </p:sp>
    </p:spTree>
    <p:extLst>
      <p:ext uri="{BB962C8B-B14F-4D97-AF65-F5344CB8AC3E}">
        <p14:creationId xmlns:p14="http://schemas.microsoft.com/office/powerpoint/2010/main" val="1110813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24562" y="260648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Требования к функциональный характеристикам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1052736"/>
            <a:ext cx="7819086" cy="5805264"/>
          </a:xfrm>
        </p:spPr>
        <p:txBody>
          <a:bodyPr>
            <a:noAutofit/>
          </a:bodyPr>
          <a:lstStyle/>
          <a:p>
            <a:pPr indent="45000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Автоматизированная информационная система расчета и учета оплаты ЖКХ должна обеспечивать выполнение следующих функций: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авторизация (главный администратор, диспетчер);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ведение и редактирование данных (добавление, удаление, редактирование);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просмотр текущего состояния об оплате счета;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изменение статуса об оплате счета;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формирование квитанции за месяц</a:t>
            </a:r>
            <a:r>
              <a:rPr lang="en-US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расчет стоимости оплаты за месяц;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составление отчёта учета оплаченных квитанций за месяц;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поиск записей с помощью фильтра (по лицевому счету).</a:t>
            </a:r>
          </a:p>
        </p:txBody>
      </p:sp>
    </p:spTree>
    <p:extLst>
      <p:ext uri="{BB962C8B-B14F-4D97-AF65-F5344CB8AC3E}">
        <p14:creationId xmlns:p14="http://schemas.microsoft.com/office/powerpoint/2010/main" val="2711522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Входные и выходные данные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1052736"/>
            <a:ext cx="7241881" cy="5805264"/>
          </a:xfrm>
        </p:spPr>
        <p:txBody>
          <a:bodyPr>
            <a:no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Входная информация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ввод номера лицевого счета.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Выходная информация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формирование отчета по оплате счетов ЖКХ, вывод квитанции на печать в файле </a:t>
            </a:r>
            <a:r>
              <a:rPr lang="en-US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Word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613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Системные требования</a:t>
            </a:r>
          </a:p>
        </p:txBody>
      </p:sp>
      <p:sp>
        <p:nvSpPr>
          <p:cNvPr id="7" name="Содержимое 2"/>
          <p:cNvSpPr>
            <a:spLocks noGrp="1"/>
          </p:cNvSpPr>
          <p:nvPr>
            <p:ph idx="1"/>
          </p:nvPr>
        </p:nvSpPr>
        <p:spPr>
          <a:xfrm>
            <a:off x="271176" y="1052736"/>
            <a:ext cx="8785737" cy="546998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Минимальные системные требования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тактовая частота процессора - 2000 Гц;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объем оперативной памяти 2 Гб;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объем свободного дискового пространства 50 МБ;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разрешение монитора 1366х768;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наличие устройства чтения компакт-дисков.</a:t>
            </a:r>
          </a:p>
        </p:txBody>
      </p:sp>
    </p:spTree>
    <p:extLst>
      <p:ext uri="{BB962C8B-B14F-4D97-AF65-F5344CB8AC3E}">
        <p14:creationId xmlns:p14="http://schemas.microsoft.com/office/powerpoint/2010/main" val="246529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Требования к программной документации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6" y="1052736"/>
            <a:ext cx="8785737" cy="546998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Основными документами регламентирующие разработку системы являются (в ходе разработки программы должны быть подготовлены):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текст программы;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пояснительная записка;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руководство пользователя.</a:t>
            </a:r>
          </a:p>
        </p:txBody>
      </p:sp>
    </p:spTree>
    <p:extLst>
      <p:ext uri="{BB962C8B-B14F-4D97-AF65-F5344CB8AC3E}">
        <p14:creationId xmlns:p14="http://schemas.microsoft.com/office/powerpoint/2010/main" val="994663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300739" y="479150"/>
            <a:ext cx="8715375" cy="618130"/>
          </a:xfrm>
        </p:spPr>
        <p:txBody>
          <a:bodyPr>
            <a:normAutofit/>
          </a:bodyPr>
          <a:lstStyle/>
          <a:p>
            <a:pPr algn="ctr" fontAlgn="auto">
              <a:spcAft>
                <a:spcPts val="0"/>
              </a:spcAft>
              <a:defRPr/>
            </a:pPr>
            <a:r>
              <a:rPr lang="ru-RU" dirty="0">
                <a:latin typeface="Times New Roman" pitchFamily="18" charset="0"/>
                <a:cs typeface="Times New Roman" pitchFamily="18" charset="0"/>
              </a:rPr>
              <a:t>Проектирование</a:t>
            </a:r>
          </a:p>
        </p:txBody>
      </p:sp>
      <p:sp>
        <p:nvSpPr>
          <p:cNvPr id="8" name="Овал 7"/>
          <p:cNvSpPr/>
          <p:nvPr/>
        </p:nvSpPr>
        <p:spPr>
          <a:xfrm>
            <a:off x="761383" y="3705727"/>
            <a:ext cx="3096344" cy="12241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СТРУКТУРНОЕ </a:t>
            </a:r>
          </a:p>
        </p:txBody>
      </p:sp>
      <p:sp>
        <p:nvSpPr>
          <p:cNvPr id="9" name="Овал 8"/>
          <p:cNvSpPr/>
          <p:nvPr/>
        </p:nvSpPr>
        <p:spPr>
          <a:xfrm>
            <a:off x="4380412" y="3705727"/>
            <a:ext cx="4053506" cy="12241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ОБЪЕКТНО-ОРИЕНТИРОВАННОЕ </a:t>
            </a:r>
          </a:p>
        </p:txBody>
      </p:sp>
      <p:cxnSp>
        <p:nvCxnSpPr>
          <p:cNvPr id="16" name="Прямая со стрелкой 15"/>
          <p:cNvCxnSpPr>
            <a:stCxn id="7" idx="2"/>
            <a:endCxn id="8" idx="0"/>
          </p:cNvCxnSpPr>
          <p:nvPr/>
        </p:nvCxnSpPr>
        <p:spPr>
          <a:xfrm flipH="1">
            <a:off x="2309555" y="1097280"/>
            <a:ext cx="2348872" cy="2608447"/>
          </a:xfrm>
          <a:prstGeom prst="straightConnector1">
            <a:avLst/>
          </a:prstGeom>
          <a:ln>
            <a:solidFill>
              <a:schemeClr val="tx1">
                <a:alpha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>
            <a:stCxn id="7" idx="2"/>
            <a:endCxn id="9" idx="0"/>
          </p:cNvCxnSpPr>
          <p:nvPr/>
        </p:nvCxnSpPr>
        <p:spPr>
          <a:xfrm>
            <a:off x="4658427" y="1097280"/>
            <a:ext cx="1748738" cy="2608447"/>
          </a:xfrm>
          <a:prstGeom prst="straightConnector1">
            <a:avLst/>
          </a:prstGeom>
          <a:ln>
            <a:solidFill>
              <a:schemeClr val="tx1">
                <a:alpha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1070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 вариантов использования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F283732-1386-409D-A9CD-18621CB2622C}"/>
              </a:ext>
            </a:extLst>
          </p:cNvPr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0199" y="1479045"/>
            <a:ext cx="4008755" cy="5252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228704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801798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 деятельности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71749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5D2518-1B8C-480C-AE2A-93BF74853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143" y="1465546"/>
            <a:ext cx="4307713" cy="487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201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60150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400" b="1" cap="none" dirty="0">
                <a:latin typeface="Times New Roman" pitchFamily="18" charset="0"/>
                <a:cs typeface="Times New Roman" pitchFamily="18" charset="0"/>
              </a:rPr>
              <a:t>ER-</a:t>
            </a:r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71749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 flipV="1">
            <a:off x="2251078" y="221391"/>
            <a:ext cx="7124911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5D78C8A-9093-4887-9BD7-B96606BFC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903" y="1464162"/>
            <a:ext cx="6112193" cy="418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669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315080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Прототип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904690"/>
            <a:ext cx="7514286" cy="5078100"/>
          </a:xfrm>
        </p:spPr>
        <p:txBody>
          <a:bodyPr>
            <a:noAutofit/>
          </a:bodyPr>
          <a:lstStyle/>
          <a:p>
            <a:pPr marL="0" indent="457200" algn="just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При проектировании программного продукта был выбран горизонтальный прототип, так как его используют, когда необходимо прояснить нечёткие требования, имеющие многоальтернативную реализацию. </a:t>
            </a:r>
          </a:p>
          <a:p>
            <a:pPr marL="0" indent="457200" algn="just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Горизонтальный прототип помогает визуально смоделировать макет разрабатываемого программного продукта, не беря во внимание его будущие функциональные характеристики.</a:t>
            </a:r>
          </a:p>
        </p:txBody>
      </p:sp>
    </p:spTree>
    <p:extLst>
      <p:ext uri="{BB962C8B-B14F-4D97-AF65-F5344CB8AC3E}">
        <p14:creationId xmlns:p14="http://schemas.microsoft.com/office/powerpoint/2010/main" val="1268536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Выбор средств разработки</a:t>
            </a:r>
          </a:p>
        </p:txBody>
      </p:sp>
      <p:pic>
        <p:nvPicPr>
          <p:cNvPr id="5" name="Объект 2"/>
          <p:cNvPicPr>
            <a:picLocks noGrp="1" noChangeAspect="1"/>
          </p:cNvPicPr>
          <p:nvPr>
            <p:ph idx="1"/>
          </p:nvPr>
        </p:nvPicPr>
        <p:blipFill rotWithShape="1">
          <a:blip r:embed="rId2" cstate="print"/>
          <a:stretch/>
        </p:blipFill>
        <p:spPr>
          <a:xfrm>
            <a:off x="1460924" y="1719262"/>
            <a:ext cx="60579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906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30D57AA-61DD-45D9-BDFE-45D3EFDA1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2009775"/>
            <a:ext cx="3752850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070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CF17BC1-FC04-4ED1-9B93-47F0128AE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75" y="1195387"/>
            <a:ext cx="6496050" cy="446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707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B42FBD-2991-4C69-A4EE-81B41F25E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051" y="1382579"/>
            <a:ext cx="6905897" cy="409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713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51E28F5-9F5D-44B0-8B06-51CFEDB2F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461" y="1404254"/>
            <a:ext cx="7042826" cy="40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338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36DB76C-050D-4FD7-9216-CD7ED1E4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654306"/>
            <a:ext cx="7429500" cy="3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4933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01DEDF-5617-4BBC-8DD6-A69255AE6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1722144"/>
            <a:ext cx="7566660" cy="341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920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BA2630F-FD23-4396-865F-48773745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1" y="1192230"/>
            <a:ext cx="7100146" cy="447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3262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260A34F-5641-4148-B4A0-2B81C40E1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234" y="1357831"/>
            <a:ext cx="6149531" cy="414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415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A43E195-BECA-458B-9152-4F52E766C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537" y="1543050"/>
            <a:ext cx="5876925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646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Заключение</a:t>
            </a:r>
          </a:p>
        </p:txBody>
      </p:sp>
      <p:sp>
        <p:nvSpPr>
          <p:cNvPr id="7" name="Содержимое 2"/>
          <p:cNvSpPr>
            <a:spLocks noGrp="1"/>
          </p:cNvSpPr>
          <p:nvPr>
            <p:ph idx="1"/>
          </p:nvPr>
        </p:nvSpPr>
        <p:spPr>
          <a:xfrm>
            <a:off x="271177" y="1100957"/>
            <a:ext cx="7427200" cy="47558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выполнение курсового проекта была разработана автоматизированная информационная система по ведению базы данных расчета и учета оплаты ЖКХ. Автоматизированная информационная система предназначена для оптимизации работы типографии, за счет облегчения оформления заказов, ведения учета материалов и заказов, а также оформления отчета продаж и отчета расхода материалов за выбранный промежуток времени.</a:t>
            </a:r>
          </a:p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Автоматизированная информационная система выполняет: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изменение статуса счета плательщика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информации базы данных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добавление, удаление и редактирование информации в базе данных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печать платежного договора оплаты услуг ЖКХ;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возможность ввода нового тарифа ЖКХ.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стоимости оплаты ЖКХ за месяц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резервное копирование БД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дальнейшем возможна доработка программы, добавление новых функций по ведению базы данных.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4521495"/>
      </p:ext>
    </p:extLst>
  </p:cSld>
  <p:clrMapOvr>
    <a:masterClrMapping/>
  </p:clrMapOvr>
</p:sld>
</file>

<file path=ppt/theme/theme1.xml><?xml version="1.0" encoding="utf-8"?>
<a:theme xmlns:a="http://schemas.openxmlformats.org/drawingml/2006/main" name="Сектор">
  <a:themeElements>
    <a:clrScheme name="Сектор">
      <a:dk1>
        <a:sysClr val="windowText" lastClr="000000"/>
      </a:dk1>
      <a:lt1>
        <a:sysClr val="window" lastClr="FFFFFF"/>
      </a:lt1>
      <a:dk2>
        <a:srgbClr val="D06F1E"/>
      </a:dk2>
      <a:lt2>
        <a:srgbClr val="F0BE21"/>
      </a:lt2>
      <a:accent1>
        <a:srgbClr val="760603"/>
      </a:accent1>
      <a:accent2>
        <a:srgbClr val="9F761A"/>
      </a:accent2>
      <a:accent3>
        <a:srgbClr val="92A200"/>
      </a:accent3>
      <a:accent4>
        <a:srgbClr val="4AA157"/>
      </a:accent4>
      <a:accent5>
        <a:srgbClr val="46788D"/>
      </a:accent5>
      <a:accent6>
        <a:srgbClr val="A848A8"/>
      </a:accent6>
      <a:hlink>
        <a:srgbClr val="460402"/>
      </a:hlink>
      <a:folHlink>
        <a:srgbClr val="991111"/>
      </a:folHlink>
    </a:clrScheme>
    <a:fontScheme name="Сектор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ектор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3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2700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162000"/>
                <a:satMod val="200000"/>
                <a:lumMod val="124000"/>
              </a:schemeClr>
            </a:gs>
            <a:gs pos="100000">
              <a:schemeClr val="phClr">
                <a:shade val="96000"/>
                <a:hueMod val="88000"/>
                <a:satMod val="220000"/>
                <a:lumMod val="82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162000"/>
                <a:satMod val="200000"/>
                <a:lumMod val="124000"/>
              </a:schemeClr>
            </a:gs>
            <a:gs pos="100000">
              <a:schemeClr val="phClr">
                <a:shade val="96000"/>
                <a:hueMod val="88000"/>
                <a:satMod val="220000"/>
                <a:lumMod val="82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282EB108-EDE6-4B8E-957B-D4A69BF580E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143</TotalTime>
  <Words>522</Words>
  <Application>Microsoft Office PowerPoint</Application>
  <PresentationFormat>Экран (4:3)</PresentationFormat>
  <Paragraphs>72</Paragraphs>
  <Slides>23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9" baseType="lpstr">
      <vt:lpstr>Calibri</vt:lpstr>
      <vt:lpstr>Century Gothic</vt:lpstr>
      <vt:lpstr>Symbol</vt:lpstr>
      <vt:lpstr>Times New Roman</vt:lpstr>
      <vt:lpstr>Wingdings 3</vt:lpstr>
      <vt:lpstr>Сектор</vt:lpstr>
      <vt:lpstr>Презентация PowerPoint</vt:lpstr>
      <vt:lpstr>Введение</vt:lpstr>
      <vt:lpstr>Назначение разработки</vt:lpstr>
      <vt:lpstr>Требования к функциональный характеристикам</vt:lpstr>
      <vt:lpstr>Входные и выходные данные</vt:lpstr>
      <vt:lpstr>Системные требования</vt:lpstr>
      <vt:lpstr>Требования к программной документации</vt:lpstr>
      <vt:lpstr>Проектирование</vt:lpstr>
      <vt:lpstr>Диаграмма вариантов использования</vt:lpstr>
      <vt:lpstr>Диаграмма деятельности</vt:lpstr>
      <vt:lpstr>ER-диаграмма</vt:lpstr>
      <vt:lpstr>Прототип</vt:lpstr>
      <vt:lpstr>Выбор средств разработки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Роман Отмятый</cp:lastModifiedBy>
  <cp:revision>54</cp:revision>
  <dcterms:created xsi:type="dcterms:W3CDTF">2022-04-17T16:10:03Z</dcterms:created>
  <dcterms:modified xsi:type="dcterms:W3CDTF">2022-05-11T07:56:29Z</dcterms:modified>
</cp:coreProperties>
</file>