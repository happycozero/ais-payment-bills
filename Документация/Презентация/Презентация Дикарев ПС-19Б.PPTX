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93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8" r:id="rId23"/>
    <p:sldId id="277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27471" autoAdjust="0"/>
    <p:restoredTop sz="94822" autoAdjust="0"/>
  </p:normalViewPr>
  <p:slideViewPr>
    <p:cSldViewPr snapToGrid="0">
      <p:cViewPr varScale="1">
        <p:scale>
          <a:sx n="69" d="100"/>
          <a:sy n="69" d="100"/>
        </p:scale>
        <p:origin x="-1182" y="-10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26A9E4-1529-4367-B8BE-34B6E2449903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171E79-6D67-4CBE-AD58-4BF52401270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12932128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171E79-6D67-4CBE-AD58-4BF52401270A}" type="slidenum">
              <a:rPr lang="ru-RU" smtClean="0"/>
              <a:pPr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32896214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4334933" y="1169931"/>
            <a:ext cx="4814835" cy="4993802"/>
            <a:chOff x="4334933" y="1169931"/>
            <a:chExt cx="4814835" cy="4993802"/>
          </a:xfrm>
        </p:grpSpPr>
        <p:cxnSp>
          <p:nvCxnSpPr>
            <p:cNvPr id="17" name="Straight Connector 16"/>
            <p:cNvCxnSpPr/>
            <p:nvPr/>
          </p:nvCxnSpPr>
          <p:spPr>
            <a:xfrm flipH="1">
              <a:off x="6009259" y="1169931"/>
              <a:ext cx="3134741" cy="313474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H="1">
              <a:off x="4334933" y="1348898"/>
              <a:ext cx="4814835" cy="481483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5225595" y="1469269"/>
              <a:ext cx="3912054" cy="391205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>
            <a:xfrm flipH="1">
              <a:off x="5304588" y="1307856"/>
              <a:ext cx="3839412" cy="3839412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 flipH="1">
              <a:off x="5707078" y="1770196"/>
              <a:ext cx="3430571" cy="3430570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3400" y="533400"/>
            <a:ext cx="6154713" cy="3124201"/>
          </a:xfrm>
        </p:spPr>
        <p:txBody>
          <a:bodyPr anchor="b">
            <a:normAutofit/>
          </a:bodyPr>
          <a:lstStyle>
            <a:lvl1pPr algn="l">
              <a:defRPr sz="4400">
                <a:effectLst/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33400" y="3843868"/>
            <a:ext cx="4954250" cy="1913466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24497702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4495800"/>
            <a:ext cx="6554867" cy="15240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0" y="533400"/>
            <a:ext cx="6554867" cy="3767670"/>
          </a:xfrm>
        </p:spPr>
        <p:txBody>
          <a:bodyPr anchor="ctr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3716716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1981199"/>
            <a:ext cx="6402468" cy="2319867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4487333"/>
            <a:ext cx="6402467" cy="1532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21106238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4495800"/>
            <a:ext cx="6554867" cy="1524000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1" name="Content Placeholder 3"/>
          <p:cNvSpPr>
            <a:spLocks noGrp="1"/>
          </p:cNvSpPr>
          <p:nvPr>
            <p:ph sz="half" idx="13"/>
          </p:nvPr>
        </p:nvSpPr>
        <p:spPr>
          <a:xfrm>
            <a:off x="533400" y="533400"/>
            <a:ext cx="3949967" cy="3767667"/>
          </a:xfrm>
        </p:spPr>
        <p:txBody>
          <a:bodyPr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12" name="Content Placeholder 5"/>
          <p:cNvSpPr>
            <a:spLocks noGrp="1"/>
          </p:cNvSpPr>
          <p:nvPr>
            <p:ph sz="quarter" idx="4"/>
          </p:nvPr>
        </p:nvSpPr>
        <p:spPr>
          <a:xfrm>
            <a:off x="4662362" y="533400"/>
            <a:ext cx="3948238" cy="3759200"/>
          </a:xfrm>
        </p:spPr>
        <p:txBody>
          <a:bodyPr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4124928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4495800"/>
            <a:ext cx="6554867" cy="1524000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1" y="533400"/>
            <a:ext cx="3716866" cy="609600"/>
          </a:xfrm>
        </p:spPr>
        <p:txBody>
          <a:bodyPr anchor="b">
            <a:noAutofit/>
          </a:bodyPr>
          <a:lstStyle>
            <a:lvl1pPr marL="0" indent="0">
              <a:buNone/>
              <a:defRPr sz="2400" b="0" cap="all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3399" y="1143000"/>
            <a:ext cx="3945467" cy="3158067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55016" y="566738"/>
            <a:ext cx="376405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 cap="all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2362" y="1143000"/>
            <a:ext cx="3956705" cy="3149600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175006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4495800"/>
            <a:ext cx="6554867" cy="1524000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338986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3147022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8667" y="533400"/>
            <a:ext cx="3200400" cy="1524000"/>
          </a:xfrm>
        </p:spPr>
        <p:txBody>
          <a:bodyPr anchor="b">
            <a:normAutofit/>
          </a:bodyPr>
          <a:lstStyle>
            <a:lvl1pPr algn="l">
              <a:defRPr sz="20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399" y="533400"/>
            <a:ext cx="4438755" cy="5486400"/>
          </a:xfrm>
        </p:spPr>
        <p:txBody>
          <a:bodyPr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18667" y="2209802"/>
            <a:ext cx="32004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38483432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5800" y="1447800"/>
            <a:ext cx="3563258" cy="11430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762000" y="914400"/>
            <a:ext cx="3280974" cy="48006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96027" y="2743200"/>
            <a:ext cx="3564223" cy="2082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33400" y="6172200"/>
            <a:ext cx="5811724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26706981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4495800"/>
            <a:ext cx="6554867" cy="15240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6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533400" y="533400"/>
            <a:ext cx="8077200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9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762002" y="3843867"/>
            <a:ext cx="7281332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17391945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33400"/>
            <a:ext cx="8077200" cy="2895600"/>
          </a:xfrm>
        </p:spPr>
        <p:txBody>
          <a:bodyPr anchor="ctr">
            <a:normAutofit/>
          </a:bodyPr>
          <a:lstStyle>
            <a:lvl1pPr algn="l">
              <a:defRPr sz="2800" b="0" cap="all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4114800"/>
            <a:ext cx="6383552" cy="1905000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38987142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283" y="533400"/>
            <a:ext cx="6859787" cy="2895600"/>
          </a:xfrm>
        </p:spPr>
        <p:txBody>
          <a:bodyPr anchor="ctr">
            <a:normAutofit/>
          </a:bodyPr>
          <a:lstStyle>
            <a:lvl1pPr algn="l">
              <a:defRPr sz="2800" b="0" cap="all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66800" y="3429000"/>
            <a:ext cx="6402467" cy="4826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4301070"/>
            <a:ext cx="6382361" cy="171873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228600" y="710624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6200" y="2768601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xmlns="" val="24550332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3429000"/>
            <a:ext cx="6382361" cy="1697400"/>
          </a:xfrm>
        </p:spPr>
        <p:txBody>
          <a:bodyPr anchor="b">
            <a:normAutofit/>
          </a:bodyPr>
          <a:lstStyle>
            <a:lvl1pPr algn="l">
              <a:defRPr sz="2800" b="0" cap="all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5132980"/>
            <a:ext cx="6383552" cy="886819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13329758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284" y="533400"/>
            <a:ext cx="6859786" cy="2895600"/>
          </a:xfrm>
        </p:spPr>
        <p:txBody>
          <a:bodyPr anchor="ctr">
            <a:normAutofit/>
          </a:bodyPr>
          <a:lstStyle>
            <a:lvl1pPr algn="l">
              <a:defRPr sz="2800" b="0" cap="all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33400" y="3886200"/>
            <a:ext cx="638236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0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4953000"/>
            <a:ext cx="6382360" cy="1066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228600" y="710624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6200" y="2768601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xmlns="" val="24156352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533400"/>
            <a:ext cx="7525658" cy="28956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2800" b="0" dirty="0"/>
            </a:lvl1pPr>
          </a:lstStyle>
          <a:p>
            <a:pPr marL="0"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33400" y="3928534"/>
            <a:ext cx="6382361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0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4766735"/>
            <a:ext cx="6382360" cy="1253065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328027465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4495800"/>
            <a:ext cx="6554867" cy="1524000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533401"/>
            <a:ext cx="6554867" cy="3767670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2208905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66406" y="533400"/>
            <a:ext cx="2044194" cy="4419600"/>
          </a:xfrm>
        </p:spPr>
        <p:txBody>
          <a:bodyPr vert="eaVert">
            <a:normAutofit/>
          </a:bodyPr>
          <a:lstStyle>
            <a:lvl1pPr>
              <a:defRPr sz="2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3400" y="533400"/>
            <a:ext cx="5850012" cy="5486400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3813849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3000">
              <a:srgbClr val="F2A02C"/>
            </a:gs>
            <a:gs pos="8000">
              <a:srgbClr val="ED9125"/>
            </a:gs>
            <a:gs pos="0">
              <a:srgbClr val="F6AB31"/>
            </a:gs>
            <a:gs pos="9000">
              <a:schemeClr val="bg2">
                <a:tint val="97000"/>
                <a:hueMod val="162000"/>
                <a:satMod val="200000"/>
                <a:lumMod val="124000"/>
              </a:schemeClr>
            </a:gs>
            <a:gs pos="63000">
              <a:schemeClr val="bg2">
                <a:shade val="96000"/>
                <a:hueMod val="88000"/>
                <a:satMod val="220000"/>
                <a:lumMod val="82000"/>
              </a:schemeClr>
            </a:gs>
          </a:gsLst>
          <a:lin ang="612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6670675" y="3894667"/>
            <a:ext cx="2470456" cy="2658533"/>
            <a:chOff x="6687077" y="3259666"/>
            <a:chExt cx="2981857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8756120" y="3259666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6687077" y="3486677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7772400" y="3581400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7923214" y="3433394"/>
              <a:ext cx="1739738" cy="173974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8398935" y="3985317"/>
              <a:ext cx="1264017" cy="126401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3400" y="4495800"/>
            <a:ext cx="6554867" cy="15240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3400" y="533401"/>
            <a:ext cx="6554867" cy="37676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30245" y="6172203"/>
            <a:ext cx="1200463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0865F621-9F77-409B-87C2-BEAA1C35D7BC}" type="datetimeFigureOut">
              <a:rPr lang="ru-RU" smtClean="0"/>
              <a:pPr/>
              <a:t>11.05.2022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3400" y="6172200"/>
            <a:ext cx="5811724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74426" y="5578478"/>
            <a:ext cx="856907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28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3E5AEE16-C978-4836-9B79-A912041A582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189920489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94" r:id="rId1"/>
    <p:sldLayoutId id="2147483895" r:id="rId2"/>
    <p:sldLayoutId id="2147483896" r:id="rId3"/>
    <p:sldLayoutId id="2147483897" r:id="rId4"/>
    <p:sldLayoutId id="2147483898" r:id="rId5"/>
    <p:sldLayoutId id="2147483899" r:id="rId6"/>
    <p:sldLayoutId id="2147483900" r:id="rId7"/>
    <p:sldLayoutId id="2147483901" r:id="rId8"/>
    <p:sldLayoutId id="2147483902" r:id="rId9"/>
    <p:sldLayoutId id="2147483903" r:id="rId10"/>
    <p:sldLayoutId id="2147483904" r:id="rId11"/>
    <p:sldLayoutId id="2147483905" r:id="rId12"/>
    <p:sldLayoutId id="2147483906" r:id="rId13"/>
    <p:sldLayoutId id="2147483907" r:id="rId14"/>
    <p:sldLayoutId id="2147483908" r:id="rId15"/>
    <p:sldLayoutId id="2147483909" r:id="rId16"/>
    <p:sldLayoutId id="2147483910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>
            <a:spLocks noChangeArrowheads="1"/>
          </p:cNvSpPr>
          <p:nvPr/>
        </p:nvSpPr>
        <p:spPr bwMode="auto">
          <a:xfrm>
            <a:off x="6390084" y="4995522"/>
            <a:ext cx="2753916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r"/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Разработал студент </a:t>
            </a:r>
          </a:p>
          <a:p>
            <a:pPr algn="r"/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группы ПС-19Б</a:t>
            </a:r>
          </a:p>
          <a:p>
            <a:pPr algn="r"/>
            <a:r>
              <a:rPr lang="ru-RU" sz="2000" dirty="0">
                <a:latin typeface="Times New Roman" pitchFamily="18" charset="0"/>
                <a:cs typeface="Times New Roman" pitchFamily="18" charset="0"/>
              </a:rPr>
              <a:t>Дикарев Роман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3611878" y="6488668"/>
            <a:ext cx="2051447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ru-RU" dirty="0">
                <a:latin typeface="Times New Roman" pitchFamily="18" charset="0"/>
                <a:cs typeface="Times New Roman" pitchFamily="18" charset="0"/>
              </a:rPr>
              <a:t>г. Заволжье, 2022</a:t>
            </a:r>
          </a:p>
        </p:txBody>
      </p:sp>
      <p:sp>
        <p:nvSpPr>
          <p:cNvPr id="6" name="Прямоугольник 1"/>
          <p:cNvSpPr>
            <a:spLocks noChangeArrowheads="1"/>
          </p:cNvSpPr>
          <p:nvPr/>
        </p:nvSpPr>
        <p:spPr bwMode="auto">
          <a:xfrm>
            <a:off x="738527" y="151855"/>
            <a:ext cx="5746705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ru-RU" sz="1350" b="1" dirty="0">
                <a:latin typeface="Times New Roman" pitchFamily="18" charset="0"/>
                <a:cs typeface="Times New Roman" pitchFamily="18" charset="0"/>
              </a:rPr>
              <a:t>Министерство образования Нижегородской области</a:t>
            </a:r>
          </a:p>
          <a:p>
            <a:pPr algn="ctr"/>
            <a:r>
              <a:rPr lang="ru-RU" sz="1350" b="1" dirty="0">
                <a:latin typeface="Times New Roman" pitchFamily="18" charset="0"/>
                <a:cs typeface="Times New Roman" pitchFamily="18" charset="0"/>
              </a:rPr>
              <a:t>Государственное бюджетное профессиональное</a:t>
            </a:r>
          </a:p>
          <a:p>
            <a:pPr algn="ctr"/>
            <a:r>
              <a:rPr lang="ru-RU" sz="1350" b="1" dirty="0">
                <a:latin typeface="Times New Roman" pitchFamily="18" charset="0"/>
                <a:cs typeface="Times New Roman" pitchFamily="18" charset="0"/>
              </a:rPr>
              <a:t>Образовательное учреждение</a:t>
            </a:r>
          </a:p>
          <a:p>
            <a:pPr algn="ctr"/>
            <a:r>
              <a:rPr lang="ru-RU" sz="1350" b="1" dirty="0">
                <a:latin typeface="Times New Roman" pitchFamily="18" charset="0"/>
                <a:cs typeface="Times New Roman" pitchFamily="18" charset="0"/>
              </a:rPr>
              <a:t>«Заволжский автомоторный техникум»</a:t>
            </a:r>
          </a:p>
        </p:txBody>
      </p:sp>
      <p:sp>
        <p:nvSpPr>
          <p:cNvPr id="7" name="TextBox 2"/>
          <p:cNvSpPr txBox="1">
            <a:spLocks noChangeArrowheads="1"/>
          </p:cNvSpPr>
          <p:nvPr/>
        </p:nvSpPr>
        <p:spPr bwMode="auto">
          <a:xfrm>
            <a:off x="182878" y="1950441"/>
            <a:ext cx="6858000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ru-RU" sz="2700" dirty="0">
                <a:latin typeface="Times New Roman" pitchFamily="18" charset="0"/>
                <a:cs typeface="Times New Roman" pitchFamily="18" charset="0"/>
              </a:rPr>
              <a:t>Курсовой проект</a:t>
            </a:r>
          </a:p>
          <a:p>
            <a:pPr algn="ctr"/>
            <a:r>
              <a:rPr lang="ru-RU" sz="2700" dirty="0">
                <a:latin typeface="Times New Roman" pitchFamily="18" charset="0"/>
                <a:cs typeface="Times New Roman" pitchFamily="18" charset="0"/>
              </a:rPr>
              <a:t>Тема: Разработка автоматизированной информационной системы по ведению базы данных расчета и учета оплаты ЖКХ</a:t>
            </a:r>
          </a:p>
        </p:txBody>
      </p:sp>
    </p:spTree>
    <p:extLst>
      <p:ext uri="{BB962C8B-B14F-4D97-AF65-F5344CB8AC3E}">
        <p14:creationId xmlns:p14="http://schemas.microsoft.com/office/powerpoint/2010/main" xmlns="" val="20424430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-483678" y="28677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Введение</a:t>
            </a:r>
          </a:p>
        </p:txBody>
      </p:sp>
      <p:sp>
        <p:nvSpPr>
          <p:cNvPr id="5" name="Содержимое 2"/>
          <p:cNvSpPr>
            <a:spLocks noGrp="1"/>
          </p:cNvSpPr>
          <p:nvPr>
            <p:ph idx="1"/>
          </p:nvPr>
        </p:nvSpPr>
        <p:spPr>
          <a:xfrm>
            <a:off x="238782" y="660850"/>
            <a:ext cx="7241881" cy="5805264"/>
          </a:xfrm>
        </p:spPr>
        <p:txBody>
          <a:bodyPr>
            <a:normAutofit/>
          </a:bodyPr>
          <a:lstStyle/>
          <a:p>
            <a:pPr indent="450215" algn="just">
              <a:lnSpc>
                <a:spcPct val="150000"/>
              </a:lnSpc>
              <a:spcAft>
                <a:spcPts val="0"/>
              </a:spcAft>
            </a:pP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Автоматизированные информационные системы нашли своё место и в ведении расчета и учета оплаты ЖКХ. Они позволяют автоматизировать просмотр оплаченных, неоплаченных счетов и формирование квитанций по оплате услуг ЖКХ.</a:t>
            </a:r>
          </a:p>
          <a:p>
            <a:pPr indent="450215" algn="just">
              <a:lnSpc>
                <a:spcPct val="150000"/>
              </a:lnSpc>
              <a:spcAft>
                <a:spcPts val="0"/>
              </a:spcAft>
            </a:pPr>
            <a:r>
              <a:rPr lang="en-US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АИС способны повысить производительность работы персонала, улучшить качество обслуживания клиентов, снизить трудоемкость и напряженность труда персонала, снизить количество ошибок в действиях персонала.</a:t>
            </a:r>
          </a:p>
          <a:p>
            <a:pPr indent="450215" algn="just">
              <a:lnSpc>
                <a:spcPct val="150000"/>
              </a:lnSpc>
              <a:spcAft>
                <a:spcPts val="0"/>
              </a:spcAft>
            </a:pP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Целью является разработка автоматизированной информационной системы для учета оплаченных и неоплаченных счетов ЖКХ, и дальнейшего вывода отчета в </a:t>
            </a:r>
            <a:r>
              <a:rPr lang="en-US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MS Word</a:t>
            </a: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ru-RU" sz="11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ru-RU" sz="1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597882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>
            <a:spLocks noGrp="1"/>
          </p:cNvSpPr>
          <p:nvPr>
            <p:ph type="title"/>
          </p:nvPr>
        </p:nvSpPr>
        <p:spPr>
          <a:xfrm>
            <a:off x="-24562" y="260648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Назначение разработки</a:t>
            </a:r>
          </a:p>
        </p:txBody>
      </p:sp>
      <p:sp>
        <p:nvSpPr>
          <p:cNvPr id="6" name="Содержимое 2"/>
          <p:cNvSpPr>
            <a:spLocks noGrp="1"/>
          </p:cNvSpPr>
          <p:nvPr>
            <p:ph idx="1"/>
          </p:nvPr>
        </p:nvSpPr>
        <p:spPr>
          <a:xfrm>
            <a:off x="371028" y="260648"/>
            <a:ext cx="7658156" cy="5805264"/>
          </a:xfrm>
        </p:spPr>
        <p:txBody>
          <a:bodyPr>
            <a:noAutofit/>
          </a:bodyPr>
          <a:lstStyle/>
          <a:p>
            <a:pPr indent="0" algn="just">
              <a:lnSpc>
                <a:spcPct val="150000"/>
              </a:lnSpc>
              <a:spcAft>
                <a:spcPts val="0"/>
              </a:spcAft>
              <a:buNone/>
            </a:pPr>
            <a:r>
              <a:rPr lang="ru-RU" sz="3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Автоматизированная информационная система по ведению базы данных расчета и уплаты ЖКХ предназначена для автоматизации формирования квитанций и учета оплаты ЖКХ.</a:t>
            </a:r>
          </a:p>
        </p:txBody>
      </p:sp>
    </p:spTree>
    <p:extLst>
      <p:ext uri="{BB962C8B-B14F-4D97-AF65-F5344CB8AC3E}">
        <p14:creationId xmlns:p14="http://schemas.microsoft.com/office/powerpoint/2010/main" xmlns="" val="11108138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-24562" y="260648"/>
            <a:ext cx="8686800" cy="936104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Требования к функциональный характеристикам</a:t>
            </a:r>
          </a:p>
        </p:txBody>
      </p:sp>
      <p:sp>
        <p:nvSpPr>
          <p:cNvPr id="5" name="Содержимое 2"/>
          <p:cNvSpPr>
            <a:spLocks noGrp="1"/>
          </p:cNvSpPr>
          <p:nvPr>
            <p:ph idx="1"/>
          </p:nvPr>
        </p:nvSpPr>
        <p:spPr>
          <a:xfrm>
            <a:off x="271177" y="1052736"/>
            <a:ext cx="7819086" cy="5805264"/>
          </a:xfrm>
        </p:spPr>
        <p:txBody>
          <a:bodyPr>
            <a:noAutofit/>
          </a:bodyPr>
          <a:lstStyle/>
          <a:p>
            <a:pPr indent="450000" algn="just">
              <a:lnSpc>
                <a:spcPct val="150000"/>
              </a:lnSpc>
              <a:spcAft>
                <a:spcPts val="0"/>
              </a:spcAft>
              <a:buNone/>
            </a:pP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Автоматизированная информационная система расчета и учета оплаты ЖКХ должна обеспечивать выполнение следующих функций:</a:t>
            </a:r>
          </a:p>
          <a:p>
            <a:pPr marL="342900" lvl="0" indent="4500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авторизация (главный администратор, диспетчер);</a:t>
            </a:r>
          </a:p>
          <a:p>
            <a:pPr marL="342900" lvl="0" indent="4500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ведение и редактирование данных (добавление, удаление, редактирование);</a:t>
            </a:r>
          </a:p>
          <a:p>
            <a:pPr marL="342900" lvl="0" indent="4500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просмотр текущего состояния об оплате счета;</a:t>
            </a:r>
          </a:p>
          <a:p>
            <a:pPr marL="342900" lvl="0" indent="4500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изменение статуса об оплате счета;</a:t>
            </a:r>
          </a:p>
          <a:p>
            <a:pPr marL="342900" lvl="0" indent="4500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формирование квитанции за месяц</a:t>
            </a:r>
            <a:r>
              <a:rPr lang="en-US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  <a:endParaRPr lang="ru-RU" sz="18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4500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расчет стоимости оплаты за месяц;</a:t>
            </a:r>
          </a:p>
          <a:p>
            <a:pPr marL="342900" lvl="0" indent="4500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составление отчёта учета оплаченных квитанций за месяц;</a:t>
            </a:r>
          </a:p>
          <a:p>
            <a:pPr marL="342900" lvl="0" indent="4500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1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поиск записей с помощью фильтра (по лицевому счету).</a:t>
            </a:r>
          </a:p>
        </p:txBody>
      </p:sp>
    </p:spTree>
    <p:extLst>
      <p:ext uri="{BB962C8B-B14F-4D97-AF65-F5344CB8AC3E}">
        <p14:creationId xmlns:p14="http://schemas.microsoft.com/office/powerpoint/2010/main" xmlns="" val="2711522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271177" y="269356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Входные и выходные данные</a:t>
            </a:r>
          </a:p>
        </p:txBody>
      </p:sp>
      <p:sp>
        <p:nvSpPr>
          <p:cNvPr id="5" name="Содержимое 2"/>
          <p:cNvSpPr>
            <a:spLocks noGrp="1"/>
          </p:cNvSpPr>
          <p:nvPr>
            <p:ph idx="1"/>
          </p:nvPr>
        </p:nvSpPr>
        <p:spPr>
          <a:xfrm>
            <a:off x="271177" y="1052736"/>
            <a:ext cx="7241881" cy="5805264"/>
          </a:xfrm>
        </p:spPr>
        <p:txBody>
          <a:bodyPr>
            <a:noAutofit/>
          </a:bodyPr>
          <a:lstStyle/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3000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Входная информация</a:t>
            </a:r>
            <a:r>
              <a:rPr lang="ru-RU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3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ввод номера лицевого счета.</a:t>
            </a:r>
            <a:endParaRPr lang="ru-RU" sz="18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3000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Выходная информация</a:t>
            </a:r>
            <a:r>
              <a:rPr lang="ru-RU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3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формирование отчета по оплате счетов ЖКХ, вывод квитанции на печать в файле </a:t>
            </a:r>
            <a:r>
              <a:rPr lang="en-US" sz="3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Word</a:t>
            </a:r>
            <a:r>
              <a:rPr lang="ru-RU" sz="3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ru-RU" sz="1800" dirty="0">
              <a:solidFill>
                <a:schemeClr val="tx1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ru-RU" sz="3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3826138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>
            <a:spLocks noGrp="1"/>
          </p:cNvSpPr>
          <p:nvPr>
            <p:ph type="title"/>
          </p:nvPr>
        </p:nvSpPr>
        <p:spPr>
          <a:xfrm>
            <a:off x="271177" y="269356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Системные требования</a:t>
            </a:r>
          </a:p>
        </p:txBody>
      </p:sp>
      <p:sp>
        <p:nvSpPr>
          <p:cNvPr id="7" name="Содержимое 2"/>
          <p:cNvSpPr>
            <a:spLocks noGrp="1"/>
          </p:cNvSpPr>
          <p:nvPr>
            <p:ph idx="1"/>
          </p:nvPr>
        </p:nvSpPr>
        <p:spPr>
          <a:xfrm>
            <a:off x="271176" y="1052736"/>
            <a:ext cx="8785737" cy="5469984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ru-RU" sz="3000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Минимальные системные требования</a:t>
            </a:r>
            <a:r>
              <a:rPr lang="ru-RU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2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тактовая частота процессора - 2000 Гц;</a:t>
            </a: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2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объем оперативной памяти 2 Гб;</a:t>
            </a: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2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объем свободного дискового пространства 50 МБ;</a:t>
            </a: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2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разрешение монитора 1366х768;</a:t>
            </a: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ru-RU" sz="28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наличие устройства чтения компакт-дисков.</a:t>
            </a:r>
          </a:p>
        </p:txBody>
      </p:sp>
    </p:spTree>
    <p:extLst>
      <p:ext uri="{BB962C8B-B14F-4D97-AF65-F5344CB8AC3E}">
        <p14:creationId xmlns:p14="http://schemas.microsoft.com/office/powerpoint/2010/main" xmlns="" val="2465295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271177" y="269356"/>
            <a:ext cx="8686800" cy="936104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Требования к программной документации</a:t>
            </a:r>
          </a:p>
        </p:txBody>
      </p:sp>
      <p:sp>
        <p:nvSpPr>
          <p:cNvPr id="5" name="Содержимое 2"/>
          <p:cNvSpPr>
            <a:spLocks noGrp="1"/>
          </p:cNvSpPr>
          <p:nvPr>
            <p:ph idx="1"/>
          </p:nvPr>
        </p:nvSpPr>
        <p:spPr>
          <a:xfrm>
            <a:off x="271176" y="1052736"/>
            <a:ext cx="8785737" cy="5469984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ru-RU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Основными документами регламентирующие разработку системы являются (в ходе разработки программы должны быть подготовлены):</a:t>
            </a:r>
          </a:p>
          <a:p>
            <a:pPr algn="just"/>
            <a:r>
              <a:rPr lang="ru-RU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текст программы;</a:t>
            </a:r>
          </a:p>
          <a:p>
            <a:pPr algn="just"/>
            <a:r>
              <a:rPr lang="ru-RU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пояснительная записка;</a:t>
            </a:r>
          </a:p>
          <a:p>
            <a:pPr algn="just"/>
            <a:r>
              <a:rPr lang="ru-RU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руководство пользователя.</a:t>
            </a:r>
          </a:p>
        </p:txBody>
      </p:sp>
    </p:spTree>
    <p:extLst>
      <p:ext uri="{BB962C8B-B14F-4D97-AF65-F5344CB8AC3E}">
        <p14:creationId xmlns:p14="http://schemas.microsoft.com/office/powerpoint/2010/main" xmlns="" val="9946639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/>
          <p:cNvSpPr>
            <a:spLocks noGrp="1"/>
          </p:cNvSpPr>
          <p:nvPr>
            <p:ph type="title"/>
          </p:nvPr>
        </p:nvSpPr>
        <p:spPr>
          <a:xfrm>
            <a:off x="300739" y="479150"/>
            <a:ext cx="8715375" cy="618130"/>
          </a:xfrm>
        </p:spPr>
        <p:txBody>
          <a:bodyPr>
            <a:normAutofit/>
          </a:bodyPr>
          <a:lstStyle/>
          <a:p>
            <a:pPr algn="ctr" fontAlgn="auto">
              <a:spcAft>
                <a:spcPts val="0"/>
              </a:spcAft>
              <a:defRPr/>
            </a:pPr>
            <a:r>
              <a:rPr lang="ru-RU" dirty="0">
                <a:latin typeface="Times New Roman" pitchFamily="18" charset="0"/>
                <a:cs typeface="Times New Roman" pitchFamily="18" charset="0"/>
              </a:rPr>
              <a:t>Проектирование</a:t>
            </a:r>
          </a:p>
        </p:txBody>
      </p:sp>
      <p:sp>
        <p:nvSpPr>
          <p:cNvPr id="8" name="Овал 7"/>
          <p:cNvSpPr/>
          <p:nvPr/>
        </p:nvSpPr>
        <p:spPr>
          <a:xfrm>
            <a:off x="761383" y="3705727"/>
            <a:ext cx="3096344" cy="122413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СТРУКТУРНОЕ </a:t>
            </a:r>
          </a:p>
        </p:txBody>
      </p:sp>
      <p:sp>
        <p:nvSpPr>
          <p:cNvPr id="9" name="Овал 8"/>
          <p:cNvSpPr/>
          <p:nvPr/>
        </p:nvSpPr>
        <p:spPr>
          <a:xfrm>
            <a:off x="4380412" y="3705727"/>
            <a:ext cx="4053506" cy="122413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ОБЪЕКТНО-ОРИЕНТИРОВАННОЕ </a:t>
            </a:r>
          </a:p>
        </p:txBody>
      </p:sp>
      <p:cxnSp>
        <p:nvCxnSpPr>
          <p:cNvPr id="16" name="Прямая со стрелкой 15"/>
          <p:cNvCxnSpPr>
            <a:stCxn id="7" idx="2"/>
            <a:endCxn id="8" idx="0"/>
          </p:cNvCxnSpPr>
          <p:nvPr/>
        </p:nvCxnSpPr>
        <p:spPr>
          <a:xfrm flipH="1">
            <a:off x="2309555" y="1097280"/>
            <a:ext cx="2348872" cy="2608447"/>
          </a:xfrm>
          <a:prstGeom prst="straightConnector1">
            <a:avLst/>
          </a:prstGeom>
          <a:ln>
            <a:solidFill>
              <a:schemeClr val="tx1">
                <a:alpha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/>
          <p:cNvCxnSpPr>
            <a:stCxn id="7" idx="2"/>
            <a:endCxn id="9" idx="0"/>
          </p:cNvCxnSpPr>
          <p:nvPr/>
        </p:nvCxnSpPr>
        <p:spPr>
          <a:xfrm>
            <a:off x="4658427" y="1097280"/>
            <a:ext cx="1748738" cy="2608447"/>
          </a:xfrm>
          <a:prstGeom prst="straightConnector1">
            <a:avLst/>
          </a:prstGeom>
          <a:ln>
            <a:solidFill>
              <a:schemeClr val="tx1">
                <a:alpha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871070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271177" y="269356"/>
            <a:ext cx="8686800" cy="936104"/>
          </a:xfrm>
        </p:spPr>
        <p:txBody>
          <a:bodyPr>
            <a:normAutofit fontScale="90000"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Диаграмма вариантов использования</a:t>
            </a:r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1053737" y="120546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xmlns="" id="{2F283732-1386-409D-A9CD-18621CB2622C}"/>
              </a:ext>
            </a:extLst>
          </p:cNvPr>
          <p:cNvPicPr/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10199" y="1479045"/>
            <a:ext cx="4008755" cy="52527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xmlns="" val="4228704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271177" y="269356"/>
            <a:ext cx="8686800" cy="801798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Диаграмма деятельности</a:t>
            </a:r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1053737" y="120546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1471749" y="120546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xmlns="" id="{265D2518-1B8C-480C-AE2A-93BF748538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8143" y="1465546"/>
            <a:ext cx="4307713" cy="487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1805201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271177" y="269356"/>
            <a:ext cx="8686800" cy="60150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4400" b="1" cap="none" dirty="0">
                <a:latin typeface="Times New Roman" pitchFamily="18" charset="0"/>
                <a:cs typeface="Times New Roman" pitchFamily="18" charset="0"/>
              </a:rPr>
              <a:t>ER-</a:t>
            </a:r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диаграмма</a:t>
            </a:r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1053737" y="120546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1471749" y="120546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6" name="Rectangle 2"/>
          <p:cNvSpPr>
            <a:spLocks noChangeArrowheads="1"/>
          </p:cNvSpPr>
          <p:nvPr/>
        </p:nvSpPr>
        <p:spPr bwMode="auto">
          <a:xfrm flipV="1">
            <a:off x="2251078" y="221391"/>
            <a:ext cx="7124911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xmlns="" id="{95D78C8A-9093-4887-9BD7-B96606BFC8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903" y="1464162"/>
            <a:ext cx="6112193" cy="4188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9856697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-315080" y="269356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Прототип</a:t>
            </a:r>
          </a:p>
        </p:txBody>
      </p:sp>
      <p:sp>
        <p:nvSpPr>
          <p:cNvPr id="5" name="Содержимое 2"/>
          <p:cNvSpPr>
            <a:spLocks noGrp="1"/>
          </p:cNvSpPr>
          <p:nvPr>
            <p:ph idx="1"/>
          </p:nvPr>
        </p:nvSpPr>
        <p:spPr>
          <a:xfrm>
            <a:off x="271177" y="1246908"/>
            <a:ext cx="7514286" cy="4735881"/>
          </a:xfrm>
        </p:spPr>
        <p:txBody>
          <a:bodyPr>
            <a:noAutofit/>
          </a:bodyPr>
          <a:lstStyle/>
          <a:p>
            <a:pPr marL="0" indent="457200" algn="just">
              <a:lnSpc>
                <a:spcPct val="150000"/>
              </a:lnSpc>
              <a:buNone/>
            </a:pP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При проектировании программного продукта был выбран горизонтальный прототип, так как его используют, когда необходимо прояснить нечёткие требования, имеющие многоальтернативную реализацию. </a:t>
            </a:r>
          </a:p>
          <a:p>
            <a:pPr marL="0" indent="457200" algn="just">
              <a:lnSpc>
                <a:spcPct val="150000"/>
              </a:lnSpc>
              <a:buNone/>
            </a:pP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Горизонтальный прототип помогает визуально смоделировать макет разрабатываемого программного продукта, не беря во внимание его будущие функциональные характеристики.</a:t>
            </a:r>
          </a:p>
        </p:txBody>
      </p:sp>
    </p:spTree>
    <p:extLst>
      <p:ext uri="{BB962C8B-B14F-4D97-AF65-F5344CB8AC3E}">
        <p14:creationId xmlns:p14="http://schemas.microsoft.com/office/powerpoint/2010/main" xmlns="" val="12685362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>
            <a:spLocks noGrp="1"/>
          </p:cNvSpPr>
          <p:nvPr>
            <p:ph type="title"/>
          </p:nvPr>
        </p:nvSpPr>
        <p:spPr>
          <a:xfrm>
            <a:off x="146474" y="16485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Выбор средств разработки</a:t>
            </a:r>
          </a:p>
        </p:txBody>
      </p:sp>
      <p:pic>
        <p:nvPicPr>
          <p:cNvPr id="5" name="Объект 2"/>
          <p:cNvPicPr>
            <a:picLocks noGrp="1" noChangeAspect="1"/>
          </p:cNvPicPr>
          <p:nvPr>
            <p:ph idx="1"/>
          </p:nvPr>
        </p:nvPicPr>
        <p:blipFill rotWithShape="1"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/>
        </p:blipFill>
        <p:spPr>
          <a:xfrm>
            <a:off x="1460924" y="1719262"/>
            <a:ext cx="6057900" cy="3419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31749067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146474" y="16485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Программные модули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xmlns="" id="{230D57AA-61DD-45D9-BDFE-45D3EFDA1D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5575" y="2009775"/>
            <a:ext cx="3752850" cy="283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6360708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146474" y="16485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Программные модули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xmlns="" id="{3CF17BC1-FC04-4ED1-9B93-47F0128AE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975" y="1195387"/>
            <a:ext cx="6496050" cy="4467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19437073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146474" y="16485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Программные модули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xmlns="" id="{E0B42FBD-2991-4C69-A4EE-81B41F25E7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051" y="1382579"/>
            <a:ext cx="6905897" cy="4092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18467138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146474" y="16485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Программные модули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xmlns="" id="{D51E28F5-9F5D-44B0-8B06-51CFEDB2F5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461" y="1404254"/>
            <a:ext cx="7042826" cy="4049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1369338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146474" y="16485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Программные модули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xmlns="" id="{736DB76C-050D-4FD7-9216-CD7ED1E47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0" y="1654306"/>
            <a:ext cx="7429500" cy="3549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13294933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146474" y="16485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Программные модули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xmlns="" id="{C401DEDF-5617-4BBC-8DD6-A69255AE6E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670" y="1722144"/>
            <a:ext cx="7566660" cy="3413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7349200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146474" y="16485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Программные модули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xmlns="" id="{8BA2630F-FD23-4396-865F-48773745DF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801" y="1192230"/>
            <a:ext cx="7100146" cy="4473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36073262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146474" y="16485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Программные модули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xmlns="" id="{E260A34F-5641-4148-B4A0-2B81C40E1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7234" y="1357831"/>
            <a:ext cx="6149531" cy="414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8534154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146474" y="16485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Программные модули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xmlns="" id="{2A43E195-BECA-458B-9152-4F52E766C8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3537" y="1543050"/>
            <a:ext cx="5876925" cy="377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37416463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>
            <a:spLocks noGrp="1"/>
          </p:cNvSpPr>
          <p:nvPr>
            <p:ph type="title"/>
          </p:nvPr>
        </p:nvSpPr>
        <p:spPr>
          <a:xfrm>
            <a:off x="146474" y="164853"/>
            <a:ext cx="8686800" cy="936104"/>
          </a:xfrm>
        </p:spPr>
        <p:txBody>
          <a:bodyPr>
            <a:normAutofit/>
          </a:bodyPr>
          <a:lstStyle/>
          <a:p>
            <a:pPr algn="ctr"/>
            <a:r>
              <a:rPr lang="ru-RU" sz="4400" b="1" cap="none" dirty="0">
                <a:latin typeface="Times New Roman" pitchFamily="18" charset="0"/>
                <a:cs typeface="Times New Roman" pitchFamily="18" charset="0"/>
              </a:rPr>
              <a:t>Заключение</a:t>
            </a:r>
          </a:p>
        </p:txBody>
      </p:sp>
      <p:sp>
        <p:nvSpPr>
          <p:cNvPr id="7" name="Содержимое 2"/>
          <p:cNvSpPr>
            <a:spLocks noGrp="1"/>
          </p:cNvSpPr>
          <p:nvPr>
            <p:ph idx="1"/>
          </p:nvPr>
        </p:nvSpPr>
        <p:spPr>
          <a:xfrm>
            <a:off x="285031" y="726884"/>
            <a:ext cx="7427200" cy="4755881"/>
          </a:xfrm>
        </p:spPr>
        <p:txBody>
          <a:bodyPr>
            <a:noAutofit/>
          </a:bodyPr>
          <a:lstStyle/>
          <a:p>
            <a:pPr indent="450215" algn="just">
              <a:lnSpc>
                <a:spcPct val="150000"/>
              </a:lnSpc>
              <a:spcAft>
                <a:spcPts val="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endParaRPr lang="ru-RU" sz="1600" dirty="0" smtClean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450215" algn="just">
              <a:lnSpc>
                <a:spcPct val="150000"/>
              </a:lnSpc>
              <a:spcAft>
                <a:spcPts val="0"/>
              </a:spcAft>
              <a:buNone/>
            </a:pPr>
            <a:endParaRPr lang="ru-RU" sz="1600" dirty="0" smtClean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450215" algn="just">
              <a:lnSpc>
                <a:spcPct val="150000"/>
              </a:lnSpc>
              <a:spcAft>
                <a:spcPts val="0"/>
              </a:spcAft>
              <a:buNone/>
            </a:pPr>
            <a:endParaRPr lang="ru-RU" sz="1600" dirty="0" smtClean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450215" algn="just">
              <a:lnSpc>
                <a:spcPct val="150000"/>
              </a:lnSpc>
              <a:spcAft>
                <a:spcPts val="0"/>
              </a:spcAft>
              <a:buNone/>
            </a:pPr>
            <a:r>
              <a:rPr lang="ru-RU" sz="16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 </a:t>
            </a:r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ходе выполнение курсового проекта была разработана автоматизированная информационная система по ведению базы данных расчета и учета оплаты ЖКХ. </a:t>
            </a:r>
            <a:r>
              <a:rPr lang="ru-RU" sz="1600" dirty="0" smtClean="0">
                <a:solidFill>
                  <a:schemeClr val="tx1"/>
                </a:solidFill>
                <a:latin typeface="Times New Roman"/>
                <a:ea typeface="Times New Roman"/>
              </a:rPr>
              <a:t>Автоматизированная информационная система предназначена для оптимизации работы диспетчера ЖКХ, за счёт облегчения заполнения данных, ведения учёта оплаченных и </a:t>
            </a:r>
            <a:r>
              <a:rPr lang="ru-RU" sz="1600" dirty="0" smtClean="0">
                <a:solidFill>
                  <a:schemeClr val="tx1"/>
                </a:solidFill>
                <a:latin typeface="Times New Roman"/>
                <a:ea typeface="Times New Roman"/>
              </a:rPr>
              <a:t>неоплаченных счетов</a:t>
            </a:r>
            <a:r>
              <a:rPr lang="ru-RU" sz="1600" dirty="0" smtClean="0">
                <a:solidFill>
                  <a:schemeClr val="tx1"/>
                </a:solidFill>
                <a:latin typeface="Times New Roman"/>
                <a:ea typeface="Times New Roman"/>
              </a:rPr>
              <a:t>, отчёт за выбранный период времени. </a:t>
            </a:r>
            <a:endParaRPr lang="ru-RU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Автоматизированная информационная система выполняет:</a:t>
            </a:r>
          </a:p>
          <a:p>
            <a:pPr marL="0" lvl="2" indent="450000" algn="just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изменение статуса счета плательщика</a:t>
            </a:r>
          </a:p>
          <a:p>
            <a:pPr marL="0" lvl="2" indent="450000" algn="just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просмотр информации базы данных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2" indent="450000" algn="just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добавление, удаление и редактирование информации в базе данных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2" indent="450000" algn="just"/>
            <a:r>
              <a:rPr lang="ru-RU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печать платежного договора оплаты услуг ЖКХ;</a:t>
            </a:r>
          </a:p>
          <a:p>
            <a:pPr marL="0" lvl="2" indent="450000" algn="just"/>
            <a:r>
              <a:rPr lang="ru-RU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возможность ввода нового тарифа </a:t>
            </a:r>
            <a:r>
              <a:rPr lang="ru-RU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ЖКХ</a:t>
            </a:r>
            <a:r>
              <a:rPr lang="en-US" dirty="0" smtClean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  <a:endParaRPr lang="ru-R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2" indent="450000" algn="just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расчет стоимости оплаты ЖКХ за </a:t>
            </a:r>
            <a:r>
              <a:rPr lang="ru-RU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месяц</a:t>
            </a:r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2" indent="450000" algn="just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резервное копирование </a:t>
            </a:r>
            <a:r>
              <a:rPr lang="ru-RU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БД</a:t>
            </a:r>
            <a:r>
              <a:rPr lang="en-US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 дальнейшем возможна доработка программы, добавление новых функций по ведению базы данных.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endParaRPr lang="ru-RU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4134521495"/>
      </p:ext>
    </p:extLst>
  </p:cSld>
  <p:clrMapOvr>
    <a:masterClrMapping/>
  </p:clrMapOvr>
</p:sld>
</file>

<file path=ppt/theme/theme1.xml><?xml version="1.0" encoding="utf-8"?>
<a:theme xmlns:a="http://schemas.openxmlformats.org/drawingml/2006/main" name="Сектор">
  <a:themeElements>
    <a:clrScheme name="Сектор">
      <a:dk1>
        <a:sysClr val="windowText" lastClr="000000"/>
      </a:dk1>
      <a:lt1>
        <a:sysClr val="window" lastClr="FFFFFF"/>
      </a:lt1>
      <a:dk2>
        <a:srgbClr val="D06F1E"/>
      </a:dk2>
      <a:lt2>
        <a:srgbClr val="F0BE21"/>
      </a:lt2>
      <a:accent1>
        <a:srgbClr val="760603"/>
      </a:accent1>
      <a:accent2>
        <a:srgbClr val="9F761A"/>
      </a:accent2>
      <a:accent3>
        <a:srgbClr val="92A200"/>
      </a:accent3>
      <a:accent4>
        <a:srgbClr val="4AA157"/>
      </a:accent4>
      <a:accent5>
        <a:srgbClr val="46788D"/>
      </a:accent5>
      <a:accent6>
        <a:srgbClr val="A848A8"/>
      </a:accent6>
      <a:hlink>
        <a:srgbClr val="460402"/>
      </a:hlink>
      <a:folHlink>
        <a:srgbClr val="991111"/>
      </a:folHlink>
    </a:clrScheme>
    <a:fontScheme name="Сектор">
      <a:majorFont>
        <a:latin typeface="Century Gothic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Сектор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3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2700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162000"/>
                <a:satMod val="200000"/>
                <a:lumMod val="124000"/>
              </a:schemeClr>
            </a:gs>
            <a:gs pos="100000">
              <a:schemeClr val="phClr">
                <a:shade val="96000"/>
                <a:hueMod val="88000"/>
                <a:satMod val="220000"/>
                <a:lumMod val="82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162000"/>
                <a:satMod val="200000"/>
                <a:lumMod val="124000"/>
              </a:schemeClr>
            </a:gs>
            <a:gs pos="100000">
              <a:schemeClr val="phClr">
                <a:shade val="96000"/>
                <a:hueMod val="88000"/>
                <a:satMod val="220000"/>
                <a:lumMod val="82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Slice" id="{0507925B-6AC9-4358-8E18-C330545D08F8}" vid="{282EB108-EDE6-4B8E-957B-D4A69BF580E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147</TotalTime>
  <Words>248</Words>
  <Application>Microsoft Office PowerPoint</Application>
  <PresentationFormat>Экран (4:3)</PresentationFormat>
  <Paragraphs>75</Paragraphs>
  <Slides>23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23</vt:i4>
      </vt:variant>
    </vt:vector>
  </HeadingPairs>
  <TitlesOfParts>
    <vt:vector size="24" baseType="lpstr">
      <vt:lpstr>Сектор</vt:lpstr>
      <vt:lpstr>Слайд 1</vt:lpstr>
      <vt:lpstr>Введение</vt:lpstr>
      <vt:lpstr>Назначение разработки</vt:lpstr>
      <vt:lpstr>Требования к функциональный характеристикам</vt:lpstr>
      <vt:lpstr>Входные и выходные данные</vt:lpstr>
      <vt:lpstr>Системные требования</vt:lpstr>
      <vt:lpstr>Требования к программной документации</vt:lpstr>
      <vt:lpstr>Проектирование</vt:lpstr>
      <vt:lpstr>Диаграмма вариантов использования</vt:lpstr>
      <vt:lpstr>Диаграмма деятельности</vt:lpstr>
      <vt:lpstr>ER-диаграмма</vt:lpstr>
      <vt:lpstr>Прототип</vt:lpstr>
      <vt:lpstr>Выбор средств разработки</vt:lpstr>
      <vt:lpstr>Программные модули</vt:lpstr>
      <vt:lpstr>Программные модули</vt:lpstr>
      <vt:lpstr>Программные модули</vt:lpstr>
      <vt:lpstr>Программные модули</vt:lpstr>
      <vt:lpstr>Программные модули</vt:lpstr>
      <vt:lpstr>Программные модули</vt:lpstr>
      <vt:lpstr>Программные модули</vt:lpstr>
      <vt:lpstr>Программные модули</vt:lpstr>
      <vt:lpstr>Программные модули</vt:lpstr>
      <vt:lpstr>Заключение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Студент247</cp:lastModifiedBy>
  <cp:revision>56</cp:revision>
  <dcterms:created xsi:type="dcterms:W3CDTF">2022-04-17T16:10:03Z</dcterms:created>
  <dcterms:modified xsi:type="dcterms:W3CDTF">2022-05-11T11:24:21Z</dcterms:modified>
</cp:coreProperties>
</file>